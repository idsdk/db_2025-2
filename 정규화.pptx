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4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20" autoAdjust="0"/>
    <p:restoredTop sz="94660"/>
  </p:normalViewPr>
  <p:slideViewPr>
    <p:cSldViewPr snapToGrid="0" showGuides="1">
      <p:cViewPr varScale="1">
        <p:scale>
          <a:sx n="58" d="100"/>
          <a:sy n="58" d="100"/>
        </p:scale>
        <p:origin x="102" y="28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4E9E27-6A31-9B86-861A-C454B4AB6E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5D7FD99-530E-7308-13DD-5815048562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608F740-EB70-ACCE-305F-84EB66B448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6CCE5-29E8-47AD-AA24-47E2DCFF04C1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ACC570D-813C-466F-F57A-BF5F17EF79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B214953-7FDA-F67A-0AF7-F31F6608A6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6E0BB-F5AF-4793-9EE7-799DA2707BD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25253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E342E43-7A16-6361-CEE9-D772CBFD67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C1934A1-B701-F397-9D64-B07004D89D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137FBE5-C30A-3791-E032-423213BECA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6CCE5-29E8-47AD-AA24-47E2DCFF04C1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DA8D90B-2B47-3942-86F3-3B6DF0C2BD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D2F3990-DF7A-BFCD-66FE-0ADB5BB324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6E0BB-F5AF-4793-9EE7-799DA2707BD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07825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67042B-7B65-0F73-85A9-D6C36DC3CB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D2B3DD9-B58A-59F4-CA20-E319127C96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2A5F93A-3CCF-F148-D3E1-1961F5E1A8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6CCE5-29E8-47AD-AA24-47E2DCFF04C1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B14C3A1-621B-CE3C-0211-C8E9A37F8E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FDD7182-442C-648E-B091-E523B379D3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6E0BB-F5AF-4793-9EE7-799DA2707BD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18191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8DEA0EB-6250-853A-343F-F415D236BE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A1F614A-46E6-8D6E-519E-415586B3EB5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693F6ED-9326-C18C-655A-258D6B702A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BCC7D1E-7103-2A9A-0EC6-6C81463D75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6CCE5-29E8-47AD-AA24-47E2DCFF04C1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D4A047A-F2CE-D95C-47D1-C84ABF629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7DA4623-50AF-1AB2-4318-5A39C6C314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6E0BB-F5AF-4793-9EE7-799DA2707BD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05145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9D530CA-14B3-A962-BBDB-6BA3E42CB5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79EFE2E-89D0-E639-5AD4-219043EF2A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8314338-FC83-264E-81FD-F6512C8A51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475A41E-0328-EE0A-ADFC-57C9515B57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F4E320C7-45A5-5396-6729-3BF23055392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DABF2303-19C2-1E33-71A5-8417CFB2B9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6CCE5-29E8-47AD-AA24-47E2DCFF04C1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E54D516-4D52-98AD-FADD-CFDFF7D26A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B7A2BCB9-9E58-4379-0107-CEF4ADA8DD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6E0BB-F5AF-4793-9EE7-799DA2707BD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544051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AF4389-1B75-A1C0-91EB-0ED835334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56593CCD-4B6D-5FC3-22E5-A8B45A6E93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6CCE5-29E8-47AD-AA24-47E2DCFF04C1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E7C6F0C-5925-B074-CE12-4BB749F775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2FE95B0-1E68-8642-0482-28E404CBBD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6E0BB-F5AF-4793-9EE7-799DA2707BD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33710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1E196C6-386E-E67E-4AC5-D2D48ABAF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6CCE5-29E8-47AD-AA24-47E2DCFF04C1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F3B552B9-F91D-F041-431C-1FA2C34FFC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0376A2B-CB02-19B2-CBF8-8B6C765C78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6E0BB-F5AF-4793-9EE7-799DA2707BD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11524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2D9F61-8360-BC66-A14C-E4B2CEE59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34092B8-6FE2-D66A-A043-2B45E08928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F7E94E8-C319-0937-12E3-A995989DF2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0891378-641E-73F6-3F82-0BD0ACDC9B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6CCE5-29E8-47AD-AA24-47E2DCFF04C1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8C1BC05-0DC1-0B50-0965-D953DD631C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D6A2C97-44B9-6BED-6AF9-08897CB962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6E0BB-F5AF-4793-9EE7-799DA2707BD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11403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2162ECF-050A-8E3F-37F5-B54B9CCF45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5A06FB8E-E33F-3E84-80A9-0C3B0899B8C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565A83B-8A5E-0A53-3692-4015F8DA7D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DC1F187-702E-5E81-7D63-B62F46D801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6CCE5-29E8-47AD-AA24-47E2DCFF04C1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9429EDE-6A81-2CB1-580C-4A9C8AA018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8AB1B35-9176-4644-58E1-EF43E847C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6E0BB-F5AF-4793-9EE7-799DA2707BD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00018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B5AC69B-A02C-F25E-FC04-98832D767E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F8A0ABD-8AEB-95C8-A180-F6799AD14B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ED07650-4FCE-8BEF-9E0B-0BA8306E34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6CCE5-29E8-47AD-AA24-47E2DCFF04C1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D620E62-0F93-687F-1B2E-D937000609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657DA27-CC6E-8FFF-BDDA-4A9A9572FC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6E0BB-F5AF-4793-9EE7-799DA2707BD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04866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33ECDBA2-F754-B208-CBAB-D536980A2B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3333D45-7960-1DEF-CE95-FEAF592E82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277BCC0-7B02-AE8D-724D-8EEC26BEBB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6CCE5-29E8-47AD-AA24-47E2DCFF04C1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EB1C4DB-EA12-741D-EB5E-4AB0AD71D8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03B52F9-AC0B-18EE-3030-F66EC7731B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6E0BB-F5AF-4793-9EE7-799DA2707BD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935847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E0F4D832-6151-DBC2-228C-9FE11FDEC8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A6D017A-305C-10FF-D415-8C6A58476D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FEB2422-4D7A-D042-191B-FA1B6EBEC7C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0B6CCE5-29E8-47AD-AA24-47E2DCFF04C1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7BE2032-88A5-50EF-0B39-4A01847078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2AD2FBC-4DE9-39AE-87D9-F840B5CAD1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BD6E0BB-F5AF-4793-9EE7-799DA2707BD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03109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85B2C2-AB17-A7DB-7BBE-2F90ECC2EC7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정규화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34C983A-6C53-5B1D-5007-75B8BB48CDF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716938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5300F89-EC1E-F25D-CE0B-5720A5C965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비정규화 고객 테이블</a:t>
            </a:r>
          </a:p>
        </p:txBody>
      </p:sp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EB11AC3A-588D-D161-A962-DC390B160C4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04157848"/>
              </p:ext>
            </p:extLst>
          </p:nvPr>
        </p:nvGraphicFramePr>
        <p:xfrm>
          <a:off x="838200" y="1825625"/>
          <a:ext cx="105156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2600">
                  <a:extLst>
                    <a:ext uri="{9D8B030D-6E8A-4147-A177-3AD203B41FA5}">
                      <a16:colId xmlns:a16="http://schemas.microsoft.com/office/drawing/2014/main" val="1616775657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3193378400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1307077926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143549650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4199113014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178077155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/>
                        <a:t>고객아이디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고객이름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나이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등급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직업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적립금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51623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Apple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김현준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20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Gold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학생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1000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810336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Banana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정소화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25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Vip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간호사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2500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030313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Carrot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/>
                        <a:t>원유선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28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Gold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교사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4500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313909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Orange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정지영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22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silver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회사원</a:t>
                      </a:r>
                      <a:r>
                        <a:rPr lang="en-US" altLang="ko-KR" dirty="0"/>
                        <a:t>,</a:t>
                      </a:r>
                      <a:r>
                        <a:rPr lang="ko-KR" altLang="en-US" dirty="0"/>
                        <a:t>학생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241224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645987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1C05A6-65F2-9B43-4B36-2B167489B1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1 </a:t>
            </a:r>
            <a:r>
              <a:rPr lang="ko-KR" altLang="en-US" dirty="0"/>
              <a:t>정규화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B3C7878-0DC9-DB56-818D-33F52984AE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err="1"/>
              <a:t>원자값이</a:t>
            </a:r>
            <a:r>
              <a:rPr lang="ko-KR" altLang="en-US" dirty="0"/>
              <a:t> 아닌 도메인이 있는 비정규화 테이블이기 때문에 조건을 만족시키기 위해 </a:t>
            </a:r>
            <a:r>
              <a:rPr lang="en-US" altLang="ko-KR" dirty="0"/>
              <a:t>‘orange’ </a:t>
            </a:r>
            <a:r>
              <a:rPr lang="ko-KR" altLang="en-US" dirty="0"/>
              <a:t>를 나눠준다</a:t>
            </a:r>
            <a:r>
              <a:rPr lang="en-US" altLang="ko-KR" dirty="0"/>
              <a:t>.</a:t>
            </a:r>
            <a:endParaRPr lang="ko-KR" altLang="en-US" dirty="0"/>
          </a:p>
          <a:p>
            <a:endParaRPr lang="ko-KR" altLang="en-US" dirty="0"/>
          </a:p>
        </p:txBody>
      </p:sp>
      <p:graphicFrame>
        <p:nvGraphicFramePr>
          <p:cNvPr id="5" name="내용 개체 틀 3">
            <a:extLst>
              <a:ext uri="{FF2B5EF4-FFF2-40B4-BE49-F238E27FC236}">
                <a16:creationId xmlns:a16="http://schemas.microsoft.com/office/drawing/2014/main" id="{35C9CC00-3DD8-D9E3-3B7E-2D9043F7153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23901635"/>
              </p:ext>
            </p:extLst>
          </p:nvPr>
        </p:nvGraphicFramePr>
        <p:xfrm>
          <a:off x="838200" y="3429000"/>
          <a:ext cx="1051560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2600">
                  <a:extLst>
                    <a:ext uri="{9D8B030D-6E8A-4147-A177-3AD203B41FA5}">
                      <a16:colId xmlns:a16="http://schemas.microsoft.com/office/drawing/2014/main" val="3449730003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1278926743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183080590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3296121427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1111783022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314704115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/>
                        <a:t>고객아이디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고객이름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나이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등급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직업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적립금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119338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Apple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김현준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20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Gold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학생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1000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44582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Banana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정소화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25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Vip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간호사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2500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258325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Carrot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/>
                        <a:t>원유선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28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Gold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교사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4500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592280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Orange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정지영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22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silver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회사원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466116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Orange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정지영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22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silver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학생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980546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810208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229985-E6D4-3E62-E49B-46CD844160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3B61CE-1DE7-920E-F3BD-AB3C27E301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1 </a:t>
            </a:r>
            <a:r>
              <a:rPr lang="ko-KR" altLang="en-US" dirty="0"/>
              <a:t>정규화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E546C0F-07FE-FDCB-2C58-3A9BDC516F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반복되는 부분과 그렇지 않은 부분을 분리한다음 반복되는 행을 삭제한다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C0D5EBD0-9C6C-0B9E-8BA1-C1B3C19E46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7825632"/>
              </p:ext>
            </p:extLst>
          </p:nvPr>
        </p:nvGraphicFramePr>
        <p:xfrm>
          <a:off x="838200" y="3611880"/>
          <a:ext cx="583184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57960">
                  <a:extLst>
                    <a:ext uri="{9D8B030D-6E8A-4147-A177-3AD203B41FA5}">
                      <a16:colId xmlns:a16="http://schemas.microsoft.com/office/drawing/2014/main" val="892100279"/>
                    </a:ext>
                  </a:extLst>
                </a:gridCol>
                <a:gridCol w="1457960">
                  <a:extLst>
                    <a:ext uri="{9D8B030D-6E8A-4147-A177-3AD203B41FA5}">
                      <a16:colId xmlns:a16="http://schemas.microsoft.com/office/drawing/2014/main" val="2243268258"/>
                    </a:ext>
                  </a:extLst>
                </a:gridCol>
                <a:gridCol w="1457960">
                  <a:extLst>
                    <a:ext uri="{9D8B030D-6E8A-4147-A177-3AD203B41FA5}">
                      <a16:colId xmlns:a16="http://schemas.microsoft.com/office/drawing/2014/main" val="1628888165"/>
                    </a:ext>
                  </a:extLst>
                </a:gridCol>
                <a:gridCol w="1457960">
                  <a:extLst>
                    <a:ext uri="{9D8B030D-6E8A-4147-A177-3AD203B41FA5}">
                      <a16:colId xmlns:a16="http://schemas.microsoft.com/office/drawing/2014/main" val="322012294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/>
                        <a:t>고객아이디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고객이름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나이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적립금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028693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Apple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김현준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20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1000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67045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Banana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정소화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25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2500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981800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Carrot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/>
                        <a:t>원유선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28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4500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047015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Orange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정지영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22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27387111"/>
                  </a:ext>
                </a:extLst>
              </a:tr>
            </a:tbl>
          </a:graphicData>
        </a:graphic>
      </p:graphicFrame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C3AD0608-9411-FFDB-899B-0A2DD88031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1072907"/>
              </p:ext>
            </p:extLst>
          </p:nvPr>
        </p:nvGraphicFramePr>
        <p:xfrm>
          <a:off x="7634779" y="3429000"/>
          <a:ext cx="4064001" cy="2219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2857677910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3604690313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33955385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/>
                        <a:t>고객아이디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직업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등급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962077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Apple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학생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Gold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373823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Banana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/>
                        <a:t>간호사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Vip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578833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Carrot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교사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Gold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724039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Orange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회사원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Silver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461179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Orange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학생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Silver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556201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103484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14A4BB-D850-8034-ED16-2953CFE34B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1 </a:t>
            </a:r>
            <a:r>
              <a:rPr lang="ko-KR" altLang="en-US" dirty="0"/>
              <a:t>정규화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89D996D-2894-050E-9159-DE2416F8FF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직업과 등급은 </a:t>
            </a:r>
            <a:r>
              <a:rPr lang="ko-KR" altLang="en-US" dirty="0" err="1"/>
              <a:t>주요키인</a:t>
            </a:r>
            <a:r>
              <a:rPr lang="ko-KR" altLang="en-US" dirty="0"/>
              <a:t> </a:t>
            </a:r>
            <a:r>
              <a:rPr lang="ko-KR" altLang="en-US" dirty="0" err="1"/>
              <a:t>고객아이디로</a:t>
            </a:r>
            <a:r>
              <a:rPr lang="ko-KR" altLang="en-US" dirty="0"/>
              <a:t> 확인할 수 없는 컬럼들이므로 새로운 테이블로 나누어 준다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F90861B6-D597-C28D-5745-5271A3126A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1676187"/>
              </p:ext>
            </p:extLst>
          </p:nvPr>
        </p:nvGraphicFramePr>
        <p:xfrm>
          <a:off x="257464" y="3584648"/>
          <a:ext cx="5538124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84531">
                  <a:extLst>
                    <a:ext uri="{9D8B030D-6E8A-4147-A177-3AD203B41FA5}">
                      <a16:colId xmlns:a16="http://schemas.microsoft.com/office/drawing/2014/main" val="892100279"/>
                    </a:ext>
                  </a:extLst>
                </a:gridCol>
                <a:gridCol w="1384531">
                  <a:extLst>
                    <a:ext uri="{9D8B030D-6E8A-4147-A177-3AD203B41FA5}">
                      <a16:colId xmlns:a16="http://schemas.microsoft.com/office/drawing/2014/main" val="2243268258"/>
                    </a:ext>
                  </a:extLst>
                </a:gridCol>
                <a:gridCol w="1384531">
                  <a:extLst>
                    <a:ext uri="{9D8B030D-6E8A-4147-A177-3AD203B41FA5}">
                      <a16:colId xmlns:a16="http://schemas.microsoft.com/office/drawing/2014/main" val="1628888165"/>
                    </a:ext>
                  </a:extLst>
                </a:gridCol>
                <a:gridCol w="1384531">
                  <a:extLst>
                    <a:ext uri="{9D8B030D-6E8A-4147-A177-3AD203B41FA5}">
                      <a16:colId xmlns:a16="http://schemas.microsoft.com/office/drawing/2014/main" val="322012294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/>
                        <a:t>고객아이디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고객이름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나이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적립금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028693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Apple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김현준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20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1000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67045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Banana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정소화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25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2500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981800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Carrot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/>
                        <a:t>원유선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28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4500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047015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Orange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정지영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22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27387111"/>
                  </a:ext>
                </a:extLst>
              </a:tr>
            </a:tbl>
          </a:graphicData>
        </a:graphic>
      </p:graphicFrame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4FF003EB-0AF2-07BE-442C-78DFC2B922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462403"/>
              </p:ext>
            </p:extLst>
          </p:nvPr>
        </p:nvGraphicFramePr>
        <p:xfrm>
          <a:off x="6102696" y="3584648"/>
          <a:ext cx="2709334" cy="2219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2857677910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360469031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/>
                        <a:t>고객아이디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직업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962077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Apple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학생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373823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Banana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/>
                        <a:t>간호사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578833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Carrot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교사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724039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Orange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회사원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461179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Orange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학생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55620173"/>
                  </a:ext>
                </a:extLst>
              </a:tr>
            </a:tbl>
          </a:graphicData>
        </a:graphic>
      </p:graphicFrame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CB977A3D-2FC7-8D76-1C5F-D1565AFD01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8795711"/>
              </p:ext>
            </p:extLst>
          </p:nvPr>
        </p:nvGraphicFramePr>
        <p:xfrm>
          <a:off x="9112442" y="3584648"/>
          <a:ext cx="2709334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2604713464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30791344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/>
                        <a:t>고객아이디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등급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185887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Apple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Gold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13573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Banana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Vip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754343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Carrot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Gold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858940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Orange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Silver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20972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674408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17A6FB0-9BA7-4559-3D94-7B81CF2D1D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2 </a:t>
            </a:r>
            <a:r>
              <a:rPr lang="ko-KR" altLang="en-US" dirty="0"/>
              <a:t>정규화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A4EC834-2D5F-D34B-7DAD-2E46AF044A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1 </a:t>
            </a:r>
            <a:r>
              <a:rPr lang="ko-KR" altLang="en-US" dirty="0"/>
              <a:t>정규화를 마친 지금의 형태에서 각 테이블의 직업 컬럼과 등급 컬럼은 </a:t>
            </a:r>
            <a:r>
              <a:rPr lang="ko-KR" altLang="en-US" dirty="0" err="1"/>
              <a:t>주요키인</a:t>
            </a:r>
            <a:r>
              <a:rPr lang="ko-KR" altLang="en-US" dirty="0"/>
              <a:t> </a:t>
            </a:r>
            <a:r>
              <a:rPr lang="ko-KR" altLang="en-US" dirty="0" err="1"/>
              <a:t>고객아이디에</a:t>
            </a:r>
            <a:r>
              <a:rPr lang="ko-KR" altLang="en-US" dirty="0"/>
              <a:t> 종속되어 있으므로 더이상 나눌 수 없으므로 제</a:t>
            </a:r>
            <a:r>
              <a:rPr lang="en-US" altLang="ko-KR" dirty="0"/>
              <a:t>2 </a:t>
            </a:r>
            <a:r>
              <a:rPr lang="ko-KR" altLang="en-US" dirty="0"/>
              <a:t>정규화는 불필요하다고 느껴진다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45725BEF-B077-FE66-388B-9CBC46E222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6848385"/>
              </p:ext>
            </p:extLst>
          </p:nvPr>
        </p:nvGraphicFramePr>
        <p:xfrm>
          <a:off x="257464" y="3584648"/>
          <a:ext cx="5538124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84531">
                  <a:extLst>
                    <a:ext uri="{9D8B030D-6E8A-4147-A177-3AD203B41FA5}">
                      <a16:colId xmlns:a16="http://schemas.microsoft.com/office/drawing/2014/main" val="892100279"/>
                    </a:ext>
                  </a:extLst>
                </a:gridCol>
                <a:gridCol w="1384531">
                  <a:extLst>
                    <a:ext uri="{9D8B030D-6E8A-4147-A177-3AD203B41FA5}">
                      <a16:colId xmlns:a16="http://schemas.microsoft.com/office/drawing/2014/main" val="2243268258"/>
                    </a:ext>
                  </a:extLst>
                </a:gridCol>
                <a:gridCol w="1384531">
                  <a:extLst>
                    <a:ext uri="{9D8B030D-6E8A-4147-A177-3AD203B41FA5}">
                      <a16:colId xmlns:a16="http://schemas.microsoft.com/office/drawing/2014/main" val="1628888165"/>
                    </a:ext>
                  </a:extLst>
                </a:gridCol>
                <a:gridCol w="1384531">
                  <a:extLst>
                    <a:ext uri="{9D8B030D-6E8A-4147-A177-3AD203B41FA5}">
                      <a16:colId xmlns:a16="http://schemas.microsoft.com/office/drawing/2014/main" val="322012294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/>
                        <a:t>고객아이디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고객이름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나이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적립금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028693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Apple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김현준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20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1000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67045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Banana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정소화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25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2500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981800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Carrot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/>
                        <a:t>원유선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28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4500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047015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Orange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정지영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22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27387111"/>
                  </a:ext>
                </a:extLst>
              </a:tr>
            </a:tbl>
          </a:graphicData>
        </a:graphic>
      </p:graphicFrame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AE0EEE14-CB50-7C51-8A35-4D3545CF2B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5656041"/>
              </p:ext>
            </p:extLst>
          </p:nvPr>
        </p:nvGraphicFramePr>
        <p:xfrm>
          <a:off x="6102696" y="3584648"/>
          <a:ext cx="2709334" cy="2219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2857677910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360469031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/>
                        <a:t>고객아이디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직업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962077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Apple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학생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373823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Banana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/>
                        <a:t>간호사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578833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Carrot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교사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724039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Orange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회사원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461179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Orange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학생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55620173"/>
                  </a:ext>
                </a:extLst>
              </a:tr>
            </a:tbl>
          </a:graphicData>
        </a:graphic>
      </p:graphicFrame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D109A0C7-F962-881E-0BDF-C51826E279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9280551"/>
              </p:ext>
            </p:extLst>
          </p:nvPr>
        </p:nvGraphicFramePr>
        <p:xfrm>
          <a:off x="9112442" y="3584648"/>
          <a:ext cx="2709334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2604713464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30791344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/>
                        <a:t>고객아이디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등급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185887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Apple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Gold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13573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Banana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Vip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754343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Carrot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Gold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858940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Orange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Silver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20972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978724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7F7A49F-8A6F-6AC9-FFB1-73398CC2A7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3 </a:t>
            </a:r>
            <a:r>
              <a:rPr lang="ko-KR" altLang="en-US" dirty="0"/>
              <a:t>정규화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84FEA03-3CA0-57FC-0906-65079989EF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고객정보 테이블에서 </a:t>
            </a:r>
            <a:r>
              <a:rPr lang="en-US" altLang="ko-KR" dirty="0"/>
              <a:t>key</a:t>
            </a:r>
            <a:r>
              <a:rPr lang="ko-KR" altLang="en-US" dirty="0"/>
              <a:t>인 </a:t>
            </a:r>
            <a:r>
              <a:rPr lang="ko-KR" altLang="en-US" dirty="0" err="1"/>
              <a:t>고객아이디와</a:t>
            </a:r>
            <a:r>
              <a:rPr lang="ko-KR" altLang="en-US" dirty="0"/>
              <a:t> </a:t>
            </a:r>
            <a:r>
              <a:rPr lang="ko-KR" altLang="en-US" dirty="0" err="1"/>
              <a:t>고객이름외의</a:t>
            </a:r>
            <a:r>
              <a:rPr lang="ko-KR" altLang="en-US" dirty="0"/>
              <a:t> </a:t>
            </a:r>
            <a:r>
              <a:rPr lang="en-US" altLang="ko-KR" dirty="0"/>
              <a:t>non key </a:t>
            </a:r>
            <a:r>
              <a:rPr lang="ko-KR" altLang="en-US" dirty="0"/>
              <a:t>컬럼인 나이와 적립금은 서로 종속관계가 성립하지 않으므로 더 이상의 정규화 과정이 불필요하다고 느꼈다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A5044572-4BD1-4738-356F-00FD83EF9E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6848385"/>
              </p:ext>
            </p:extLst>
          </p:nvPr>
        </p:nvGraphicFramePr>
        <p:xfrm>
          <a:off x="257464" y="3584648"/>
          <a:ext cx="5538124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84531">
                  <a:extLst>
                    <a:ext uri="{9D8B030D-6E8A-4147-A177-3AD203B41FA5}">
                      <a16:colId xmlns:a16="http://schemas.microsoft.com/office/drawing/2014/main" val="892100279"/>
                    </a:ext>
                  </a:extLst>
                </a:gridCol>
                <a:gridCol w="1384531">
                  <a:extLst>
                    <a:ext uri="{9D8B030D-6E8A-4147-A177-3AD203B41FA5}">
                      <a16:colId xmlns:a16="http://schemas.microsoft.com/office/drawing/2014/main" val="2243268258"/>
                    </a:ext>
                  </a:extLst>
                </a:gridCol>
                <a:gridCol w="1384531">
                  <a:extLst>
                    <a:ext uri="{9D8B030D-6E8A-4147-A177-3AD203B41FA5}">
                      <a16:colId xmlns:a16="http://schemas.microsoft.com/office/drawing/2014/main" val="1628888165"/>
                    </a:ext>
                  </a:extLst>
                </a:gridCol>
                <a:gridCol w="1384531">
                  <a:extLst>
                    <a:ext uri="{9D8B030D-6E8A-4147-A177-3AD203B41FA5}">
                      <a16:colId xmlns:a16="http://schemas.microsoft.com/office/drawing/2014/main" val="322012294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/>
                        <a:t>고객아이디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고객이름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나이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적립금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028693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Apple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김현준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20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1000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67045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Banana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정소화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25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2500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981800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Carrot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/>
                        <a:t>원유선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28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4500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047015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Orange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정지영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22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27387111"/>
                  </a:ext>
                </a:extLst>
              </a:tr>
            </a:tbl>
          </a:graphicData>
        </a:graphic>
      </p:graphicFrame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392FD594-0033-5A85-0284-04C7F619AE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8632340"/>
              </p:ext>
            </p:extLst>
          </p:nvPr>
        </p:nvGraphicFramePr>
        <p:xfrm>
          <a:off x="6102696" y="3584648"/>
          <a:ext cx="2709334" cy="2219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2857677910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360469031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/>
                        <a:t>고객아이디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직업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962077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Apple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학생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373823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Banana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/>
                        <a:t>간호사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578833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Carrot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교사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724039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Orange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회사원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461179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Orange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학생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55620173"/>
                  </a:ext>
                </a:extLst>
              </a:tr>
            </a:tbl>
          </a:graphicData>
        </a:graphic>
      </p:graphicFrame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B85F793E-9DDA-5171-C68B-CFC1F9D539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6117955"/>
              </p:ext>
            </p:extLst>
          </p:nvPr>
        </p:nvGraphicFramePr>
        <p:xfrm>
          <a:off x="9112442" y="3584648"/>
          <a:ext cx="2709334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2604713464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30791344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/>
                        <a:t>고객아이디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등급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185887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Apple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Gold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13573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Banana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Vip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754343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Carrot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Gold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858940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Orange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Silver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2097243"/>
                  </a:ext>
                </a:extLst>
              </a:tr>
            </a:tbl>
          </a:graphicData>
        </a:graphic>
      </p:graphicFrame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9C29CD28-9C74-11FF-CF91-FF4D266AC0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1700829"/>
              </p:ext>
            </p:extLst>
          </p:nvPr>
        </p:nvGraphicFramePr>
        <p:xfrm>
          <a:off x="257464" y="3213808"/>
          <a:ext cx="1352205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2205">
                  <a:extLst>
                    <a:ext uri="{9D8B030D-6E8A-4147-A177-3AD203B41FA5}">
                      <a16:colId xmlns:a16="http://schemas.microsoft.com/office/drawing/2014/main" val="263508485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고객정보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3396351"/>
                  </a:ext>
                </a:extLst>
              </a:tr>
            </a:tbl>
          </a:graphicData>
        </a:graphic>
      </p:graphicFrame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165A5F23-F131-D6E2-1107-2ADC01898E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8546090"/>
              </p:ext>
            </p:extLst>
          </p:nvPr>
        </p:nvGraphicFramePr>
        <p:xfrm>
          <a:off x="6096000" y="3213808"/>
          <a:ext cx="1352204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2204">
                  <a:extLst>
                    <a:ext uri="{9D8B030D-6E8A-4147-A177-3AD203B41FA5}">
                      <a16:colId xmlns:a16="http://schemas.microsoft.com/office/drawing/2014/main" val="263508485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직업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3396351"/>
                  </a:ext>
                </a:extLst>
              </a:tr>
            </a:tbl>
          </a:graphicData>
        </a:graphic>
      </p:graphicFrame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F1C775A8-E66E-B6A7-13A8-4D974E3836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1360758"/>
              </p:ext>
            </p:extLst>
          </p:nvPr>
        </p:nvGraphicFramePr>
        <p:xfrm>
          <a:off x="9112443" y="3213808"/>
          <a:ext cx="1352204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2204">
                  <a:extLst>
                    <a:ext uri="{9D8B030D-6E8A-4147-A177-3AD203B41FA5}">
                      <a16:colId xmlns:a16="http://schemas.microsoft.com/office/drawing/2014/main" val="263508485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등급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33963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998616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</TotalTime>
  <Words>341</Words>
  <Application>Microsoft Office PowerPoint</Application>
  <PresentationFormat>와이드스크린</PresentationFormat>
  <Paragraphs>245</Paragraphs>
  <Slides>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0" baseType="lpstr">
      <vt:lpstr>맑은 고딕</vt:lpstr>
      <vt:lpstr>Arial</vt:lpstr>
      <vt:lpstr>Office 테마</vt:lpstr>
      <vt:lpstr>정규화</vt:lpstr>
      <vt:lpstr>비정규화 고객 테이블</vt:lpstr>
      <vt:lpstr>제1 정규화</vt:lpstr>
      <vt:lpstr>제1 정규화</vt:lpstr>
      <vt:lpstr>제1 정규화</vt:lpstr>
      <vt:lpstr>제2 정규화</vt:lpstr>
      <vt:lpstr>제3 정규화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신동경</dc:creator>
  <cp:lastModifiedBy>신동경</cp:lastModifiedBy>
  <cp:revision>1</cp:revision>
  <dcterms:created xsi:type="dcterms:W3CDTF">2025-11-24T06:50:58Z</dcterms:created>
  <dcterms:modified xsi:type="dcterms:W3CDTF">2025-11-24T07:59:20Z</dcterms:modified>
</cp:coreProperties>
</file>